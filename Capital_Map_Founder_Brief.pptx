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slide. This is a founder's read on where capital went 2022-2025, not a market report. Every number is sourced (Crunchbase + Galaxy Digital). The audience question running underneath: how much should I lean into AI?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gravity. AI pulled ~50% of ALL global VC in 2025, $211B total (4.6x since 2022), and ~$93B of that went to just three labs. Point: the attention is real and overwhelming, but the AI core is concentrated and expensive to compete in directly. Don't tell them what to do - surface that the gravity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Their own lane. Crypto collapsed 86% then recovered to its strongest quarter since early 2022 - and into trading infrastructure, exactly the GTE category. Fintech halved then rebuilt on fewer, larger rounds. Both alive, both disciplined and concentrated.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cross-cutting pattern. Average landmark round grew ~6x to $2.6B. In every sector a few names absorb most of the money: AI half to 3 labs, Web3 41% to one deal, fintech 15% to Stripe. Fundability = being a top name in your 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 - pose, don't prescribe. Three questions: do you need an AI story or does it pull focus; is effort buying category leadership; where does effort get you closer to taking the round. Close: the data sets the table, the call is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7A18"/>
                </a:solidFill>
                <a:latin typeface="Calibri"/>
              </a:rPr>
              <a:t>VENTURE CAPITAL  ·  2022–2025  ·  EVERY FIGURE SOURCED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000" b="1" i="0">
                <a:solidFill>
                  <a:srgbClr val="F1F1F5"/>
                </a:solidFill>
                <a:latin typeface="Cambria"/>
              </a:rPr>
              <a:t>A founder's read on the </a:t>
            </a:r>
            <a:r>
              <a:rPr sz="4000" b="1" i="0">
                <a:solidFill>
                  <a:srgbClr val="FF7A18"/>
                </a:solidFill>
                <a:latin typeface="Cambria"/>
              </a:rPr>
              <a:t>capital map.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100" b="0" i="0">
                <a:solidFill>
                  <a:srgbClr val="A6A6B2"/>
                </a:solidFill>
                <a:latin typeface="Calibri"/>
              </a:rPr>
              <a:t>Where venture money actually went — and the questions it raises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2100" b="0" i="0">
                <a:solidFill>
                  <a:srgbClr val="A6A6B2"/>
                </a:solidFill>
                <a:latin typeface="Calibri"/>
              </a:rPr>
              <a:t>if you're building in crypto or fintech.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3737E"/>
                </a:solidFill>
                <a:latin typeface="Calibri"/>
              </a:rPr>
              <a:t>Backbone: Crunchbase annual · Web3 deep-dive: Galaxy Digital quarterly · </a:t>
            </a:r>
            <a:r>
              <a:rPr sz="1200" b="0" i="0">
                <a:solidFill>
                  <a:srgbClr val="2DD4BF"/>
                </a:solidFill>
                <a:latin typeface="Calibri"/>
              </a:rPr>
              <a:t>gitlostinthesauce.github.io/InsubordinateandChurlish_VCflow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7A18"/>
                </a:solidFill>
                <a:latin typeface="Calibri"/>
              </a:rPr>
              <a:t>01  ·  THE 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F1F5"/>
                </a:solidFill>
                <a:latin typeface="Cambria"/>
              </a:rPr>
              <a:t>AI is where the capital — and the attention —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737E"/>
                </a:solidFill>
                <a:latin typeface="Calibri"/>
              </a:rPr>
              <a:t>The question: </a:t>
            </a:r>
            <a:r>
              <a:rPr sz="1600" b="0" i="1">
                <a:solidFill>
                  <a:srgbClr val="F1F1F5"/>
                </a:solidFill>
                <a:latin typeface="Calibri"/>
              </a:rPr>
              <a:t>if I'm not an AI company, am I invisible to capital?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6A6B2"/>
                </a:solidFill>
                <a:latin typeface="Calibri"/>
              </a:rPr>
              <a:t>AI venture funding, $B per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5260616"/>
            <a:ext cx="868680" cy="545823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7656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1F1F5"/>
                </a:solidFill>
                <a:latin typeface="Calibri"/>
              </a:rPr>
              <a:t>$45.8B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6130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6A6B2"/>
                </a:solidFill>
                <a:latin typeface="Calibri"/>
              </a:rPr>
              <a:t>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5210563"/>
            <a:ext cx="868680" cy="595876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4826515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1F1F5"/>
                </a:solidFill>
                <a:latin typeface="Calibri"/>
              </a:rPr>
              <a:t>$50B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86130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6A6B2"/>
                </a:solidFill>
                <a:latin typeface="Calibri"/>
              </a:rPr>
              <a:t>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4447840"/>
            <a:ext cx="868680" cy="1358599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06379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1F1F5"/>
                </a:solidFill>
                <a:latin typeface="Calibri"/>
              </a:rPr>
              <a:t>$114B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86130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6A6B2"/>
                </a:solidFill>
                <a:latin typeface="Calibri"/>
              </a:rPr>
              <a:t>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291839"/>
            <a:ext cx="868680" cy="251460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907791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1F1F5"/>
                </a:solidFill>
                <a:latin typeface="Calibri"/>
              </a:rPr>
              <a:t>$211B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861303"/>
            <a:ext cx="1325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6A6B2"/>
                </a:solidFill>
                <a:latin typeface="Calibri"/>
              </a:rPr>
              <a:t>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103120"/>
            <a:ext cx="5212080" cy="1170432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103120"/>
            <a:ext cx="19202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7A18"/>
                </a:solidFill>
                <a:latin typeface="Cambria"/>
              </a:rPr>
              <a:t>~50%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03120"/>
            <a:ext cx="26060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F1F1F5"/>
                </a:solidFill>
                <a:latin typeface="Calibri"/>
              </a:rPr>
              <a:t>of ALL global venture dollars went to AI in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38144"/>
            <a:ext cx="5212080" cy="1170432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438144"/>
            <a:ext cx="19202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1F1F5"/>
                </a:solidFill>
                <a:latin typeface="Cambria"/>
              </a:rPr>
              <a:t>4.6×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438144"/>
            <a:ext cx="26060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F1F1F5"/>
                </a:solidFill>
                <a:latin typeface="Calibri"/>
              </a:rPr>
              <a:t>AI's run-up in three years — $45.8B (2022) to $211B (2025)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773168"/>
            <a:ext cx="5212080" cy="1170432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773168"/>
            <a:ext cx="19202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7A18"/>
                </a:solidFill>
                <a:latin typeface="Cambria"/>
              </a:rPr>
              <a:t>~$93B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73168"/>
            <a:ext cx="26060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>
                <a:solidFill>
                  <a:srgbClr val="F1F1F5"/>
                </a:solidFill>
                <a:latin typeface="Calibri"/>
              </a:rPr>
              <a:t>of that landed in just three labs: OpenAI, Anthropic, xAI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7E26D"/>
                </a:solidFill>
                <a:latin typeface="Calibri"/>
              </a:rPr>
              <a:t>Read:  </a:t>
            </a:r>
            <a:r>
              <a:rPr sz="1400" b="0" i="1">
                <a:solidFill>
                  <a:srgbClr val="A6A6B2"/>
                </a:solidFill>
                <a:latin typeface="Calibri"/>
              </a:rPr>
              <a:t>the narrative gravity is overwhelming — but the AI core is brutally concentrated and expensive to enter.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7A18"/>
                </a:solidFill>
                <a:latin typeface="Calibri"/>
              </a:rPr>
              <a:t>02  ·  YOUR OWN 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F1F5"/>
                </a:solidFill>
                <a:latin typeface="Cambria"/>
              </a:rPr>
              <a:t>Crypto and fintech aren't dead — they're disciplined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737E"/>
                </a:solidFill>
                <a:latin typeface="Calibri"/>
              </a:rPr>
              <a:t>The question: </a:t>
            </a:r>
            <a:r>
              <a:rPr sz="1600" b="0" i="1">
                <a:solidFill>
                  <a:srgbClr val="F1F1F5"/>
                </a:solidFill>
                <a:latin typeface="Calibri"/>
              </a:rPr>
              <a:t>is my market actually fundable right now?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257800" cy="3611880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7E26D"/>
                </a:solidFill>
                <a:latin typeface="Cambria"/>
              </a:rPr>
              <a:t>Crypto / Web3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44348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77E26D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Collapsed −86% into the 2023 winter ($14.2B → $1.93B quarterly).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77E26D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Back to $8.5B in Q4 2025 — strongest quarter since Q2 2022.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77E26D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The money returned to infrastructure &amp; trading rails, not consumer/NFT froth.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77E26D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One $2B Binance/MGX deal was ~41% of a single quarter.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257800" cy="3611880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88CFF"/>
                </a:solidFill>
                <a:latin typeface="Cambria"/>
              </a:rPr>
              <a:t>Fintech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4348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B88CFF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Halved from $90.2B (2022) to $43B (2023) — a 6-year low.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B88CFF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Rebuilt to $51.8B (2025), +27% YoY.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B88CFF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Recovery shaped by fewer, larger rounds — not a return to spray.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500" b="1" i="0">
                <a:solidFill>
                  <a:srgbClr val="B88CFF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F1F1F5"/>
                </a:solidFill>
                <a:latin typeface="Calibri"/>
              </a:rPr>
              <a:t>Stripe's $6.5B round was ~15% of all fintech funding in 2023.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7E26D"/>
                </a:solidFill>
                <a:latin typeface="Calibri"/>
              </a:rPr>
              <a:t>Read:  </a:t>
            </a:r>
            <a:r>
              <a:rPr sz="1400" b="0" i="1">
                <a:solidFill>
                  <a:srgbClr val="A6A6B2"/>
                </a:solidFill>
                <a:latin typeface="Calibri"/>
              </a:rPr>
              <a:t>capital is back in both lanes — but it rewards focus and category leadership, not breadth.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7A18"/>
                </a:solidFill>
                <a:latin typeface="Calibri"/>
              </a:rPr>
              <a:t>03  ·  THE PATTERN ACROSS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F1F5"/>
                </a:solidFill>
                <a:latin typeface="Cambria"/>
              </a:rPr>
              <a:t>Winners take most — in every sector, not just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3737E"/>
                </a:solidFill>
                <a:latin typeface="Calibri"/>
              </a:rPr>
              <a:t>The question: </a:t>
            </a:r>
            <a:r>
              <a:rPr sz="1600" b="0" i="1">
                <a:solidFill>
                  <a:srgbClr val="F1F1F5"/>
                </a:solidFill>
                <a:latin typeface="Calibri"/>
              </a:rPr>
              <a:t>what actually makes a company fundable in this market?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6A6B2"/>
                </a:solidFill>
                <a:latin typeface="Calibri"/>
              </a:rPr>
              <a:t>Average landmark round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5411841"/>
            <a:ext cx="1051560" cy="394598"/>
          </a:xfrm>
          <a:prstGeom prst="rect">
            <a:avLst/>
          </a:prstGeom>
          <a:solidFill>
            <a:srgbClr val="737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7793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1F1F5"/>
                </a:solidFill>
                <a:latin typeface="Calibri"/>
              </a:rPr>
              <a:t>~$440M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61303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6A6B2"/>
                </a:solidFill>
                <a:latin typeface="Calibri"/>
              </a:rPr>
              <a:t>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3474720"/>
            <a:ext cx="1051560" cy="2331720"/>
          </a:xfrm>
          <a:prstGeom prst="rect">
            <a:avLst/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309067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1F1F5"/>
                </a:solidFill>
                <a:latin typeface="Calibri"/>
              </a:rPr>
              <a:t>~$2.6B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861303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6A6B2"/>
                </a:solidFill>
                <a:latin typeface="Calibri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7A18"/>
                </a:solidFill>
                <a:latin typeface="Cambria"/>
              </a:rPr>
              <a:t>~6×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40690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6A6B2"/>
                </a:solidFill>
                <a:latin typeface="Calibri"/>
              </a:rPr>
              <a:t>bigger in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6A6B2"/>
                </a:solidFill>
                <a:latin typeface="Calibri"/>
              </a:rPr>
              <a:t>three years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03120"/>
            <a:ext cx="5212080" cy="1170432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173736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7A18"/>
                </a:solidFill>
                <a:latin typeface="Cambria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F1F1F5"/>
                </a:solidFill>
                <a:latin typeface="Calibri"/>
              </a:rPr>
              <a:t>~half of all landmark capital → 3 labs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38144"/>
            <a:ext cx="5212080" cy="1170432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438144"/>
            <a:ext cx="173736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7E26D"/>
                </a:solidFill>
                <a:latin typeface="Cambria"/>
              </a:rPr>
              <a:t>Web3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38144"/>
            <a:ext cx="28346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F1F1F5"/>
                </a:solidFill>
                <a:latin typeface="Calibri"/>
              </a:rPr>
              <a:t>~41% of a quarter → one $2B deal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773168"/>
            <a:ext cx="5212080" cy="1170432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73168"/>
            <a:ext cx="173736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8CFF"/>
                </a:solidFill>
                <a:latin typeface="Cambria"/>
              </a:rPr>
              <a:t>Fintech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773168"/>
            <a:ext cx="2834640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50" b="0" i="0">
                <a:solidFill>
                  <a:srgbClr val="F1F1F5"/>
                </a:solidFill>
                <a:latin typeface="Calibri"/>
              </a:rPr>
              <a:t>~15% of a year → Stripe's single 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7E26D"/>
                </a:solidFill>
                <a:latin typeface="Calibri"/>
              </a:rPr>
              <a:t>Read:  </a:t>
            </a:r>
            <a:r>
              <a:rPr sz="1400" b="0" i="1">
                <a:solidFill>
                  <a:srgbClr val="A6A6B2"/>
                </a:solidFill>
                <a:latin typeface="Calibri"/>
              </a:rPr>
              <a:t>being fundable means being a top name in your lane — the megaround dynamic is not AI-specific.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7A18"/>
                </a:solidFill>
                <a:latin typeface="Calibri"/>
              </a:rPr>
              <a:t>04  ·  WHAT TO WEIGH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1F1F5"/>
                </a:solidFill>
                <a:latin typeface="Cambria"/>
              </a:rPr>
              <a:t>Three questions the data puts in front of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731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7A18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56232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600" b="1" i="0">
                <a:solidFill>
                  <a:srgbClr val="FF7A18"/>
                </a:solidFill>
                <a:latin typeface="Calibri"/>
              </a:rPr>
              <a:t>Attention vs. focus  —  </a:t>
            </a:r>
            <a:r>
              <a:rPr sz="1600" b="0" i="1">
                <a:solidFill>
                  <a:srgbClr val="A6A6B2"/>
                </a:solidFill>
                <a:latin typeface="Calibri"/>
              </a:rPr>
              <a:t>AI holds ~50% of capital and the narrative.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450" b="0" i="0">
                <a:solidFill>
                  <a:srgbClr val="F1F1F5"/>
                </a:solidFill>
                <a:latin typeface="Calibri"/>
              </a:rPr>
              <a:t>Do you need an AI story to be in the conversation — or does chasing one pull effort from where you can actually win?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731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77E26D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410712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600" b="1" i="0">
                <a:solidFill>
                  <a:srgbClr val="77E26D"/>
                </a:solidFill>
                <a:latin typeface="Calibri"/>
              </a:rPr>
              <a:t>Depth in your lane  —  </a:t>
            </a:r>
            <a:r>
              <a:rPr sz="1600" b="0" i="1">
                <a:solidFill>
                  <a:srgbClr val="A6A6B2"/>
                </a:solidFill>
                <a:latin typeface="Calibri"/>
              </a:rPr>
              <a:t>Crypto &amp; fintech capital is back, but concentrated.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450" b="0" i="0">
                <a:solidFill>
                  <a:srgbClr val="F1F1F5"/>
                </a:solidFill>
                <a:latin typeface="Calibri"/>
              </a:rPr>
              <a:t>Is your next unit of effort buying category leadership — or spreading you thin across features?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0060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8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7315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88C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965192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600" b="1" i="0">
                <a:solidFill>
                  <a:srgbClr val="B88CFF"/>
                </a:solidFill>
                <a:latin typeface="Calibri"/>
              </a:rPr>
              <a:t>Clearing the bar  —  </a:t>
            </a:r>
            <a:r>
              <a:rPr sz="1600" b="0" i="1">
                <a:solidFill>
                  <a:srgbClr val="A6A6B2"/>
                </a:solidFill>
                <a:latin typeface="Calibri"/>
              </a:rPr>
              <a:t>Megarounds mean a few names take most of the money.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450" b="0" i="0">
                <a:solidFill>
                  <a:srgbClr val="F1F1F5"/>
                </a:solidFill>
                <a:latin typeface="Calibri"/>
              </a:rPr>
              <a:t>Where does effort move you closer to being the name that takes the round: AI features, or depth in your core?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1">
                <a:solidFill>
                  <a:srgbClr val="F1F1F5"/>
                </a:solidFill>
                <a:latin typeface="Cambria"/>
              </a:rPr>
              <a:t>The data sets the table. The call is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